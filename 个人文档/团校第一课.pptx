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2"/>
  </p:notesMasterIdLst>
  <p:handoutMasterIdLst>
    <p:handoutMasterId r:id="rId15"/>
  </p:handoutMasterIdLst>
  <p:sldIdLst>
    <p:sldId id="260" r:id="rId4"/>
    <p:sldId id="270" r:id="rId5"/>
    <p:sldId id="265" r:id="rId6"/>
    <p:sldId id="269" r:id="rId7"/>
    <p:sldId id="266" r:id="rId8"/>
    <p:sldId id="298" r:id="rId9"/>
    <p:sldId id="267" r:id="rId10"/>
    <p:sldId id="288" r:id="rId11"/>
    <p:sldId id="268" r:id="rId13"/>
    <p:sldId id="296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614" y="72"/>
      </p:cViewPr>
      <p:guideLst>
        <p:guide orient="horz" pos="2160"/>
        <p:guide pos="388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36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62.xml"/><Relationship Id="rId2" Type="http://schemas.openxmlformats.org/officeDocument/2006/relationships/slideLayout" Target="../slideLayouts/slideLayout2.xml"/><Relationship Id="rId19" Type="http://schemas.openxmlformats.org/officeDocument/2006/relationships/image" Target="file:///D:\qq&#25991;&#20214;\712321467\Image\C2C\Image2\%7b75232B38-A165-1FB7-499C-2E1C792CACB5%7d.png" TargetMode="External"/><Relationship Id="rId18" Type="http://schemas.openxmlformats.org/officeDocument/2006/relationships/image" Target="../media/image2.png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24.xml"/><Relationship Id="rId2" Type="http://schemas.openxmlformats.org/officeDocument/2006/relationships/slideLayout" Target="../slideLayouts/slideLayout13.xml"/><Relationship Id="rId19" Type="http://schemas.openxmlformats.org/officeDocument/2006/relationships/image" Target="file:///D:\qq&#25991;&#20214;\712321467\Image\C2C\Image2\%7b75232B38-A165-1FB7-499C-2E1C792CACB5%7d.png" TargetMode="External"/><Relationship Id="rId18" Type="http://schemas.openxmlformats.org/officeDocument/2006/relationships/image" Target="../media/image2.png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tile tx="0" ty="0" sx="100000" sy="99000" flip="x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1073743875" descr="学科网 zxxk.com"/>
          <p:cNvPicPr>
            <a:picLocks noChangeAspect="1"/>
          </p:cNvPicPr>
          <p:nvPr/>
        </p:nvPicPr>
        <p:blipFill>
          <a:blip r:embed="rId18" r:link="rId19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tile tx="0" ty="0" sx="100000" sy="99000" flip="x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1073743875" descr="学科网 zxxk.com"/>
          <p:cNvPicPr>
            <a:picLocks noChangeAspect="1"/>
          </p:cNvPicPr>
          <p:nvPr/>
        </p:nvPicPr>
        <p:blipFill>
          <a:blip r:embed="rId18" r:link="rId19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2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7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8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9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3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3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5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62585" y="329565"/>
            <a:ext cx="11465560" cy="6199505"/>
          </a:xfrm>
          <a:prstGeom prst="roundRect">
            <a:avLst>
              <a:gd name="adj" fmla="val 373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724400" y="4337685"/>
            <a:ext cx="2743200" cy="639445"/>
          </a:xfrm>
          <a:prstGeom prst="roundRect">
            <a:avLst>
              <a:gd name="adj" fmla="val 10228"/>
            </a:avLst>
          </a:prstGeom>
          <a:solidFill>
            <a:srgbClr val="B50007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奉献</a:t>
            </a:r>
            <a:r>
              <a:rPr lang="en-US" altLang="zh-CN" sz="2000" dirty="0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友爱</a:t>
            </a:r>
            <a:r>
              <a:rPr lang="en-US" altLang="zh-CN" sz="2000" dirty="0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互助</a:t>
            </a:r>
            <a:r>
              <a:rPr lang="en-US" altLang="zh-CN" sz="2000" dirty="0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/</a:t>
            </a:r>
            <a:r>
              <a:rPr lang="zh-CN" altLang="en-US" sz="2000" dirty="0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进步</a:t>
            </a:r>
            <a:endParaRPr lang="zh-CN" altLang="en-US" sz="2000" dirty="0">
              <a:solidFill>
                <a:schemeClr val="bg1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  <a:sym typeface="+mn-ea"/>
            </a:endParaRPr>
          </a:p>
        </p:txBody>
      </p:sp>
      <p:pic>
        <p:nvPicPr>
          <p:cNvPr id="26" name="图片 25" descr="343435333336323b333633373330333bb1cabca3"/>
          <p:cNvPicPr>
            <a:picLocks noChangeAspect="1"/>
          </p:cNvPicPr>
          <p:nvPr/>
        </p:nvPicPr>
        <p:blipFill>
          <a:blip r:embed="rId1" cstate="email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0573" b="27427"/>
          <a:stretch>
            <a:fillRect/>
          </a:stretch>
        </p:blipFill>
        <p:spPr>
          <a:xfrm rot="3480000">
            <a:off x="-704799" y="1508561"/>
            <a:ext cx="7421245" cy="311688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687" h="4908">
                <a:moveTo>
                  <a:pt x="11687" y="0"/>
                </a:moveTo>
                <a:lnTo>
                  <a:pt x="11687" y="4296"/>
                </a:lnTo>
                <a:lnTo>
                  <a:pt x="0" y="4908"/>
                </a:lnTo>
                <a:lnTo>
                  <a:pt x="0" y="612"/>
                </a:lnTo>
                <a:lnTo>
                  <a:pt x="11687" y="0"/>
                </a:lnTo>
                <a:close/>
              </a:path>
            </a:pathLst>
          </a:custGeom>
        </p:spPr>
      </p:pic>
      <p:pic>
        <p:nvPicPr>
          <p:cNvPr id="29" name="图片 28" descr="343435333336323b333633373330333bb1cabca3"/>
          <p:cNvPicPr>
            <a:picLocks noChangeAspect="1"/>
          </p:cNvPicPr>
          <p:nvPr/>
        </p:nvPicPr>
        <p:blipFill>
          <a:blip r:embed="rId1" cstate="email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7860000">
            <a:off x="7755255" y="2884805"/>
            <a:ext cx="4783455" cy="20091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687" h="4908">
                <a:moveTo>
                  <a:pt x="11687" y="0"/>
                </a:moveTo>
                <a:lnTo>
                  <a:pt x="11687" y="4296"/>
                </a:lnTo>
                <a:lnTo>
                  <a:pt x="0" y="4908"/>
                </a:lnTo>
                <a:lnTo>
                  <a:pt x="0" y="612"/>
                </a:lnTo>
                <a:lnTo>
                  <a:pt x="11687" y="0"/>
                </a:lnTo>
                <a:close/>
              </a:path>
            </a:pathLst>
          </a:custGeom>
        </p:spPr>
      </p:pic>
      <p:grpSp>
        <p:nvGrpSpPr>
          <p:cNvPr id="24" name="组合 23"/>
          <p:cNvGrpSpPr/>
          <p:nvPr/>
        </p:nvGrpSpPr>
        <p:grpSpPr>
          <a:xfrm>
            <a:off x="2617470" y="1208405"/>
            <a:ext cx="6957695" cy="1289685"/>
            <a:chOff x="4122" y="2220"/>
            <a:chExt cx="10957" cy="2031"/>
          </a:xfrm>
        </p:grpSpPr>
        <p:grpSp>
          <p:nvGrpSpPr>
            <p:cNvPr id="23" name="组合 22"/>
            <p:cNvGrpSpPr/>
            <p:nvPr/>
          </p:nvGrpSpPr>
          <p:grpSpPr>
            <a:xfrm>
              <a:off x="4122" y="2220"/>
              <a:ext cx="10957" cy="2031"/>
              <a:chOff x="3855" y="2220"/>
              <a:chExt cx="10957" cy="2031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3855" y="2220"/>
                <a:ext cx="4850" cy="2024"/>
                <a:chOff x="4575" y="2070"/>
                <a:chExt cx="4850" cy="2024"/>
              </a:xfrm>
            </p:grpSpPr>
            <p:pic>
              <p:nvPicPr>
                <p:cNvPr id="3" name="图片 2" descr="32303036343138363b32303036353030313bb3a4b3c7"/>
                <p:cNvPicPr>
                  <a:picLocks noChangeAspect="1"/>
                </p:cNvPicPr>
                <p:nvPr/>
              </p:nvPicPr>
              <p:blipFill>
                <a:blip r:embed="rId3" cstate="email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75" y="2070"/>
                  <a:ext cx="2025" cy="2025"/>
                </a:xfrm>
                <a:prstGeom prst="rect">
                  <a:avLst/>
                </a:prstGeom>
              </p:spPr>
            </p:pic>
            <p:cxnSp>
              <p:nvCxnSpPr>
                <p:cNvPr id="6" name="直接连接符 5"/>
                <p:cNvCxnSpPr/>
                <p:nvPr/>
              </p:nvCxnSpPr>
              <p:spPr>
                <a:xfrm>
                  <a:off x="6441" y="3225"/>
                  <a:ext cx="2985" cy="0"/>
                </a:xfrm>
                <a:prstGeom prst="line">
                  <a:avLst/>
                </a:prstGeom>
                <a:ln>
                  <a:solidFill>
                    <a:srgbClr val="B5000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" name="组合 12"/>
              <p:cNvGrpSpPr/>
              <p:nvPr/>
            </p:nvGrpSpPr>
            <p:grpSpPr>
              <a:xfrm>
                <a:off x="10354" y="2227"/>
                <a:ext cx="4459" cy="2024"/>
                <a:chOff x="10091" y="2070"/>
                <a:chExt cx="4459" cy="2024"/>
              </a:xfrm>
            </p:grpSpPr>
            <p:pic>
              <p:nvPicPr>
                <p:cNvPr id="4" name="图片 3" descr="32303036343138363b32303036353030313bb3a4b3c7"/>
                <p:cNvPicPr>
                  <a:picLocks noChangeAspect="1"/>
                </p:cNvPicPr>
                <p:nvPr/>
              </p:nvPicPr>
              <p:blipFill>
                <a:blip r:embed="rId3" cstate="email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12690" y="2070"/>
                  <a:ext cx="1860" cy="2025"/>
                </a:xfrm>
                <a:prstGeom prst="rect">
                  <a:avLst/>
                </a:prstGeom>
              </p:spPr>
            </p:pic>
            <p:cxnSp>
              <p:nvCxnSpPr>
                <p:cNvPr id="11" name="直接连接符 10"/>
                <p:cNvCxnSpPr/>
                <p:nvPr/>
              </p:nvCxnSpPr>
              <p:spPr>
                <a:xfrm>
                  <a:off x="10091" y="3225"/>
                  <a:ext cx="2985" cy="0"/>
                </a:xfrm>
                <a:prstGeom prst="line">
                  <a:avLst/>
                </a:prstGeom>
                <a:ln>
                  <a:solidFill>
                    <a:srgbClr val="B5000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组合 20"/>
              <p:cNvGrpSpPr/>
              <p:nvPr/>
            </p:nvGrpSpPr>
            <p:grpSpPr>
              <a:xfrm>
                <a:off x="8777" y="2988"/>
                <a:ext cx="1505" cy="394"/>
                <a:chOff x="8033" y="2460"/>
                <a:chExt cx="3093" cy="810"/>
              </a:xfrm>
            </p:grpSpPr>
            <p:sp>
              <p:nvSpPr>
                <p:cNvPr id="15" name="五角星 14"/>
                <p:cNvSpPr/>
                <p:nvPr/>
              </p:nvSpPr>
              <p:spPr>
                <a:xfrm>
                  <a:off x="9195" y="2460"/>
                  <a:ext cx="810" cy="810"/>
                </a:xfrm>
                <a:prstGeom prst="star5">
                  <a:avLst/>
                </a:prstGeom>
                <a:solidFill>
                  <a:srgbClr val="B5000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6" name="五角星 15"/>
                <p:cNvSpPr/>
                <p:nvPr/>
              </p:nvSpPr>
              <p:spPr>
                <a:xfrm>
                  <a:off x="8494" y="2658"/>
                  <a:ext cx="612" cy="612"/>
                </a:xfrm>
                <a:prstGeom prst="star5">
                  <a:avLst/>
                </a:prstGeom>
                <a:solidFill>
                  <a:srgbClr val="B5000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" name="五角星 17"/>
                <p:cNvSpPr/>
                <p:nvPr/>
              </p:nvSpPr>
              <p:spPr>
                <a:xfrm>
                  <a:off x="10094" y="2658"/>
                  <a:ext cx="612" cy="612"/>
                </a:xfrm>
                <a:prstGeom prst="star5">
                  <a:avLst/>
                </a:prstGeom>
                <a:solidFill>
                  <a:srgbClr val="B5000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五角星 18"/>
                <p:cNvSpPr/>
                <p:nvPr/>
              </p:nvSpPr>
              <p:spPr>
                <a:xfrm>
                  <a:off x="10754" y="2898"/>
                  <a:ext cx="372" cy="372"/>
                </a:xfrm>
                <a:prstGeom prst="star5">
                  <a:avLst/>
                </a:prstGeom>
                <a:solidFill>
                  <a:srgbClr val="B5000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五角星 19"/>
                <p:cNvSpPr/>
                <p:nvPr/>
              </p:nvSpPr>
              <p:spPr>
                <a:xfrm>
                  <a:off x="8033" y="2898"/>
                  <a:ext cx="372" cy="372"/>
                </a:xfrm>
                <a:prstGeom prst="star5">
                  <a:avLst/>
                </a:prstGeom>
                <a:solidFill>
                  <a:srgbClr val="B5000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22" name="文本框 21"/>
            <p:cNvSpPr txBox="1"/>
            <p:nvPr/>
          </p:nvSpPr>
          <p:spPr>
            <a:xfrm>
              <a:off x="5921" y="2359"/>
              <a:ext cx="7359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rgbClr val="B50007"/>
                  </a:solidFill>
                  <a:latin typeface="汉仪汉黑简" panose="00020600040101010101" charset="-122"/>
                  <a:ea typeface="汉仪汉黑简" panose="00020600040101010101" charset="-122"/>
                  <a:cs typeface="汉仪汉黑简" panose="00020600040101010101" charset="-122"/>
                </a:rPr>
                <a:t>九班团课第</a:t>
              </a:r>
              <a:r>
                <a:rPr lang="zh-CN" altLang="en-US" sz="2400" dirty="0">
                  <a:solidFill>
                    <a:srgbClr val="B50007"/>
                  </a:solidFill>
                  <a:latin typeface="汉仪汉黑简" panose="00020600040101010101" charset="-122"/>
                  <a:ea typeface="汉仪汉黑简" panose="00020600040101010101" charset="-122"/>
                  <a:cs typeface="汉仪汉黑简" panose="00020600040101010101" charset="-122"/>
                </a:rPr>
                <a:t>一讲</a:t>
              </a:r>
              <a:endParaRPr lang="zh-CN" altLang="en-US" sz="2400" dirty="0">
                <a:solidFill>
                  <a:srgbClr val="B50007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75640" y="2277745"/>
            <a:ext cx="1084072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6000" dirty="0">
                <a:solidFill>
                  <a:srgbClr val="B50007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喜迎</a:t>
            </a:r>
            <a:r>
              <a:rPr lang="zh-CN" sz="6000" dirty="0">
                <a:solidFill>
                  <a:srgbClr val="B50007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杭州</a:t>
            </a:r>
            <a:r>
              <a:rPr sz="6000" dirty="0">
                <a:solidFill>
                  <a:srgbClr val="B50007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亚运</a:t>
            </a:r>
            <a:r>
              <a:rPr lang="en-US" sz="6000" dirty="0">
                <a:solidFill>
                  <a:srgbClr val="B50007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 弘扬志愿精神</a:t>
            </a:r>
            <a:endParaRPr lang="en-US" sz="6000" dirty="0">
              <a:solidFill>
                <a:srgbClr val="B50007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21030" y="3284855"/>
            <a:ext cx="1094994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400">
                <a:solidFill>
                  <a:srgbClr val="B50007">
                    <a:alpha val="75000"/>
                  </a:srgbClr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杭州第 19 届亚运会将于 9 月 23 日拉开帷幕，青春担当，志愿同行，今年，将有 3.76 万名志愿者成为杭州亚运会、亚残运会“小青荷”，以专业的亚运知识储备、严谨的服务态度、饱满的精神风貌展现“奉献、友爱、互助、进步”的志愿服务精神。</a:t>
            </a:r>
            <a:endParaRPr lang="zh-CN" altLang="en-US" sz="1400">
              <a:solidFill>
                <a:srgbClr val="B50007">
                  <a:alpha val="75000"/>
                </a:srgbClr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0" y="5639929"/>
            <a:ext cx="12191365" cy="121807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99" h="1918">
                <a:moveTo>
                  <a:pt x="0" y="0"/>
                </a:moveTo>
                <a:lnTo>
                  <a:pt x="55" y="16"/>
                </a:lnTo>
                <a:cubicBezTo>
                  <a:pt x="1869" y="550"/>
                  <a:pt x="5555" y="915"/>
                  <a:pt x="9807" y="915"/>
                </a:cubicBezTo>
                <a:cubicBezTo>
                  <a:pt x="13775" y="915"/>
                  <a:pt x="17250" y="597"/>
                  <a:pt x="19171" y="121"/>
                </a:cubicBezTo>
                <a:lnTo>
                  <a:pt x="19199" y="114"/>
                </a:lnTo>
                <a:lnTo>
                  <a:pt x="19199" y="1918"/>
                </a:lnTo>
                <a:lnTo>
                  <a:pt x="0" y="1918"/>
                </a:lnTo>
                <a:lnTo>
                  <a:pt x="0" y="0"/>
                </a:lnTo>
                <a:close/>
              </a:path>
            </a:pathLst>
          </a:custGeom>
          <a:solidFill>
            <a:srgbClr val="9B3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635" y="5224780"/>
            <a:ext cx="12191365" cy="107815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199" h="1698">
                <a:moveTo>
                  <a:pt x="0" y="0"/>
                </a:moveTo>
                <a:lnTo>
                  <a:pt x="55" y="23"/>
                </a:lnTo>
                <a:cubicBezTo>
                  <a:pt x="1869" y="775"/>
                  <a:pt x="5555" y="1289"/>
                  <a:pt x="9807" y="1289"/>
                </a:cubicBezTo>
                <a:cubicBezTo>
                  <a:pt x="13775" y="1289"/>
                  <a:pt x="17250" y="841"/>
                  <a:pt x="19171" y="170"/>
                </a:cubicBezTo>
                <a:lnTo>
                  <a:pt x="19199" y="161"/>
                </a:lnTo>
                <a:lnTo>
                  <a:pt x="19199" y="897"/>
                </a:lnTo>
                <a:lnTo>
                  <a:pt x="19171" y="904"/>
                </a:lnTo>
                <a:cubicBezTo>
                  <a:pt x="17250" y="1380"/>
                  <a:pt x="13775" y="1698"/>
                  <a:pt x="9807" y="1698"/>
                </a:cubicBezTo>
                <a:cubicBezTo>
                  <a:pt x="5555" y="1698"/>
                  <a:pt x="1869" y="1333"/>
                  <a:pt x="55" y="799"/>
                </a:cubicBezTo>
                <a:lnTo>
                  <a:pt x="0" y="783"/>
                </a:lnTo>
                <a:lnTo>
                  <a:pt x="0" y="0"/>
                </a:lnTo>
                <a:close/>
              </a:path>
            </a:pathLst>
          </a:custGeom>
          <a:solidFill>
            <a:srgbClr val="EEA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943737" y="5364822"/>
            <a:ext cx="2316480" cy="4972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主讲人：</a:t>
            </a:r>
            <a:r>
              <a:rPr lang="zh-CN" altLang="en-US" sz="2400" ker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童逸轩</a:t>
            </a:r>
            <a:endParaRPr lang="zh-CN" altLang="en-US" sz="2400" ker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204400" y="39041"/>
            <a:ext cx="1825421" cy="182542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233" y="542057"/>
            <a:ext cx="3028589" cy="761268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280795" y="0"/>
            <a:ext cx="11007090" cy="68580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/>
        </p:nvSpPr>
        <p:spPr>
          <a:xfrm>
            <a:off x="901795" y="0"/>
            <a:ext cx="1832515" cy="68586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86" h="10801">
                <a:moveTo>
                  <a:pt x="1611" y="0"/>
                </a:moveTo>
                <a:lnTo>
                  <a:pt x="2886" y="0"/>
                </a:lnTo>
                <a:lnTo>
                  <a:pt x="2862" y="18"/>
                </a:lnTo>
                <a:cubicBezTo>
                  <a:pt x="1517" y="1037"/>
                  <a:pt x="601" y="3065"/>
                  <a:pt x="601" y="5401"/>
                </a:cubicBezTo>
                <a:cubicBezTo>
                  <a:pt x="601" y="7737"/>
                  <a:pt x="1517" y="9765"/>
                  <a:pt x="2862" y="10784"/>
                </a:cubicBezTo>
                <a:lnTo>
                  <a:pt x="2884" y="10801"/>
                </a:lnTo>
                <a:lnTo>
                  <a:pt x="1610" y="10801"/>
                </a:lnTo>
                <a:lnTo>
                  <a:pt x="1594" y="10784"/>
                </a:lnTo>
                <a:cubicBezTo>
                  <a:pt x="646" y="9765"/>
                  <a:pt x="0" y="7737"/>
                  <a:pt x="0" y="5401"/>
                </a:cubicBezTo>
                <a:cubicBezTo>
                  <a:pt x="0" y="3065"/>
                  <a:pt x="646" y="1037"/>
                  <a:pt x="1594" y="18"/>
                </a:cubicBezTo>
                <a:lnTo>
                  <a:pt x="1611" y="0"/>
                </a:lnTo>
                <a:close/>
              </a:path>
            </a:pathLst>
          </a:custGeom>
          <a:solidFill>
            <a:srgbClr val="EEA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/>
        </p:nvSpPr>
        <p:spPr>
          <a:xfrm>
            <a:off x="0" y="0"/>
            <a:ext cx="1934411" cy="68586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46" h="10801">
                <a:moveTo>
                  <a:pt x="0" y="0"/>
                </a:moveTo>
                <a:lnTo>
                  <a:pt x="3046" y="0"/>
                </a:lnTo>
                <a:lnTo>
                  <a:pt x="3029" y="18"/>
                </a:lnTo>
                <a:cubicBezTo>
                  <a:pt x="2081" y="1037"/>
                  <a:pt x="1435" y="3065"/>
                  <a:pt x="1435" y="5401"/>
                </a:cubicBezTo>
                <a:cubicBezTo>
                  <a:pt x="1435" y="7737"/>
                  <a:pt x="2081" y="9765"/>
                  <a:pt x="3029" y="10784"/>
                </a:cubicBezTo>
                <a:lnTo>
                  <a:pt x="3045" y="10801"/>
                </a:lnTo>
                <a:lnTo>
                  <a:pt x="0" y="10801"/>
                </a:lnTo>
                <a:lnTo>
                  <a:pt x="0" y="0"/>
                </a:lnTo>
                <a:close/>
              </a:path>
            </a:pathLst>
          </a:custGeom>
          <a:solidFill>
            <a:srgbClr val="9B3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121535" y="2029460"/>
            <a:ext cx="1300480" cy="27997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dist"/>
            <a:r>
              <a:rPr lang="zh-CN" altLang="en-US" sz="8800">
                <a:solidFill>
                  <a:srgbClr val="9B3234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目</a:t>
            </a:r>
            <a:endParaRPr lang="zh-CN" altLang="en-US" sz="8800">
              <a:solidFill>
                <a:srgbClr val="9B3234"/>
              </a:solidFill>
              <a:latin typeface="汉仪汉黑简" panose="00020600040101010101" charset="-122"/>
              <a:ea typeface="汉仪汉黑简" panose="00020600040101010101" charset="-122"/>
              <a:sym typeface="+mn-ea"/>
            </a:endParaRPr>
          </a:p>
          <a:p>
            <a:pPr algn="dist"/>
            <a:r>
              <a:rPr lang="zh-CN" altLang="en-US" sz="8800">
                <a:solidFill>
                  <a:srgbClr val="9B3234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录</a:t>
            </a:r>
            <a:endParaRPr lang="zh-CN" altLang="en-US" sz="8800">
              <a:solidFill>
                <a:srgbClr val="9B3234"/>
              </a:solidFill>
              <a:latin typeface="汉仪汉黑简" panose="00020600040101010101" charset="-122"/>
              <a:ea typeface="汉仪汉黑简" panose="0002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28140" y="1320800"/>
            <a:ext cx="1106170" cy="42151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en-US" altLang="zh-CN" sz="6000">
                <a:solidFill>
                  <a:srgbClr val="9B3234">
                    <a:alpha val="10000"/>
                  </a:srgbClr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CONTENTS</a:t>
            </a:r>
            <a:endParaRPr lang="en-US" altLang="zh-CN" sz="6000">
              <a:solidFill>
                <a:srgbClr val="9B3234">
                  <a:alpha val="10000"/>
                </a:srgbClr>
              </a:solidFill>
              <a:latin typeface="汉仪汉黑简" panose="00020600040101010101" charset="-122"/>
              <a:ea typeface="汉仪汉黑简" panose="00020600040101010101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359910" y="1945640"/>
            <a:ext cx="800100" cy="800100"/>
          </a:xfrm>
          <a:prstGeom prst="ellipse">
            <a:avLst/>
          </a:prstGeom>
          <a:solidFill>
            <a:srgbClr val="9B3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汉仪汉黑简" panose="00020600040101010101" charset="-122"/>
                <a:ea typeface="汉仪汉黑简" panose="00020600040101010101" charset="-122"/>
              </a:rPr>
              <a:t>壹</a:t>
            </a:r>
            <a:endParaRPr lang="zh-CN" altLang="en-US" sz="3200">
              <a:latin typeface="汉仪汉黑简" panose="00020600040101010101" charset="-122"/>
              <a:ea typeface="汉仪汉黑简" panose="00020600040101010101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4359910" y="3180080"/>
            <a:ext cx="800100" cy="800100"/>
          </a:xfrm>
          <a:prstGeom prst="ellipse">
            <a:avLst/>
          </a:prstGeom>
          <a:solidFill>
            <a:srgbClr val="9B3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汉仪汉黑简" panose="00020600040101010101" charset="-122"/>
                <a:ea typeface="汉仪汉黑简" panose="00020600040101010101" charset="-122"/>
              </a:rPr>
              <a:t>贰</a:t>
            </a:r>
            <a:endParaRPr lang="zh-CN" altLang="en-US" sz="3200">
              <a:latin typeface="汉仪汉黑简" panose="00020600040101010101" charset="-122"/>
              <a:ea typeface="汉仪汉黑简" panose="00020600040101010101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4359910" y="4414520"/>
            <a:ext cx="800100" cy="800100"/>
          </a:xfrm>
          <a:prstGeom prst="ellipse">
            <a:avLst/>
          </a:prstGeom>
          <a:solidFill>
            <a:srgbClr val="9B3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>
                <a:latin typeface="汉仪汉黑简" panose="00020600040101010101" charset="-122"/>
                <a:ea typeface="汉仪汉黑简" panose="00020600040101010101" charset="-122"/>
              </a:rPr>
              <a:t>叁</a:t>
            </a:r>
            <a:endParaRPr lang="zh-CN" altLang="en-US" sz="3200">
              <a:latin typeface="汉仪汉黑简" panose="00020600040101010101" charset="-122"/>
              <a:ea typeface="汉仪汉黑简" panose="00020600040101010101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296535" y="1951038"/>
            <a:ext cx="2672080" cy="749935"/>
            <a:chOff x="8645" y="883"/>
            <a:chExt cx="4208" cy="1181"/>
          </a:xfrm>
        </p:grpSpPr>
        <p:sp>
          <p:nvSpPr>
            <p:cNvPr id="13" name="文本框 12"/>
            <p:cNvSpPr txBox="1"/>
            <p:nvPr/>
          </p:nvSpPr>
          <p:spPr>
            <a:xfrm>
              <a:off x="8645" y="883"/>
              <a:ext cx="420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>
                  <a:solidFill>
                    <a:srgbClr val="9B3234"/>
                  </a:solidFill>
                  <a:latin typeface="汉仪汉黑简" panose="00020600040101010101" charset="-122"/>
                  <a:ea typeface="汉仪汉黑简" panose="00020600040101010101" charset="-122"/>
                </a:rPr>
                <a:t>杭州亚运会</a:t>
              </a:r>
              <a:r>
                <a:rPr lang="zh-CN" altLang="en-US" sz="2800">
                  <a:solidFill>
                    <a:srgbClr val="9B3234"/>
                  </a:solidFill>
                  <a:latin typeface="汉仪汉黑简" panose="00020600040101010101" charset="-122"/>
                  <a:ea typeface="汉仪汉黑简" panose="00020600040101010101" charset="-122"/>
                </a:rPr>
                <a:t>介绍</a:t>
              </a:r>
              <a:endParaRPr lang="zh-CN" altLang="en-US" sz="2800">
                <a:solidFill>
                  <a:srgbClr val="9B3234"/>
                </a:solidFill>
                <a:latin typeface="汉仪汉黑简" panose="00020600040101010101" charset="-122"/>
                <a:ea typeface="汉仪汉黑简" panose="00020600040101010101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645" y="1533"/>
              <a:ext cx="488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zh-CN" altLang="en-US" sz="1600">
                <a:solidFill>
                  <a:srgbClr val="9B3234"/>
                </a:solidFill>
                <a:latin typeface="汉仪汉黑简" panose="00020600040101010101" charset="-122"/>
                <a:ea typeface="汉仪汉黑简" panose="00020600040101010101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5015230" y="3205480"/>
            <a:ext cx="30276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>
                <a:solidFill>
                  <a:srgbClr val="941225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  </a:t>
            </a:r>
            <a:r>
              <a:rPr lang="zh-CN" altLang="en-US" sz="2800">
                <a:solidFill>
                  <a:srgbClr val="941225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学校的志愿服务</a:t>
            </a:r>
            <a:endParaRPr lang="zh-CN" altLang="en-US" sz="2800">
              <a:solidFill>
                <a:srgbClr val="9B3234"/>
              </a:solidFill>
              <a:latin typeface="汉仪汉黑简" panose="00020600040101010101" charset="-122"/>
              <a:ea typeface="汉仪汉黑简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160010" y="4439920"/>
            <a:ext cx="33832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>
                <a:solidFill>
                  <a:srgbClr val="941225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  </a:t>
            </a:r>
            <a:r>
              <a:rPr lang="zh-CN" altLang="en-US" sz="2800">
                <a:solidFill>
                  <a:srgbClr val="941225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如何弘扬志愿精神</a:t>
            </a:r>
            <a:endParaRPr lang="zh-CN" altLang="en-US" sz="2800">
              <a:solidFill>
                <a:srgbClr val="9B3234"/>
              </a:solidFill>
              <a:latin typeface="汉仪汉黑简" panose="00020600040101010101" charset="-122"/>
              <a:ea typeface="汉仪汉黑简" panose="00020600040101010101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63220" y="424180"/>
            <a:ext cx="11465560" cy="6199505"/>
          </a:xfrm>
          <a:prstGeom prst="roundRect">
            <a:avLst>
              <a:gd name="adj" fmla="val 3738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6093460" y="329565"/>
            <a:ext cx="0" cy="1552575"/>
          </a:xfrm>
          <a:prstGeom prst="line">
            <a:avLst/>
          </a:prstGeom>
          <a:ln>
            <a:solidFill>
              <a:srgbClr val="9B32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5864860" y="1876425"/>
            <a:ext cx="457200" cy="457200"/>
          </a:xfrm>
          <a:prstGeom prst="ellipse">
            <a:avLst/>
          </a:prstGeom>
          <a:solidFill>
            <a:srgbClr val="9B3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769360" y="2452688"/>
            <a:ext cx="40944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rgbClr val="9B3234"/>
                </a:solidFill>
                <a:latin typeface="汉仪汉黑简" panose="00020600040101010101" charset="-122"/>
                <a:ea typeface="汉仪汉黑简" panose="00020600040101010101" charset="-122"/>
              </a:rPr>
              <a:t>杭州亚运会</a:t>
            </a:r>
            <a:r>
              <a:rPr lang="zh-CN" altLang="en-US" sz="4400" dirty="0">
                <a:solidFill>
                  <a:srgbClr val="9B3234"/>
                </a:solidFill>
                <a:latin typeface="汉仪汉黑简" panose="00020600040101010101" charset="-122"/>
                <a:ea typeface="汉仪汉黑简" panose="00020600040101010101" charset="-122"/>
              </a:rPr>
              <a:t>介绍</a:t>
            </a:r>
            <a:endParaRPr lang="zh-CN" altLang="en-US" sz="4400" dirty="0">
              <a:solidFill>
                <a:srgbClr val="9B3234"/>
              </a:solidFill>
              <a:latin typeface="汉仪汉黑简" panose="00020600040101010101" charset="-122"/>
              <a:ea typeface="汉仪汉黑简" panose="00020600040101010101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724400" y="3759835"/>
            <a:ext cx="2743200" cy="639445"/>
          </a:xfrm>
          <a:prstGeom prst="roundRect">
            <a:avLst>
              <a:gd name="adj" fmla="val 10228"/>
            </a:avLst>
          </a:prstGeom>
          <a:solidFill>
            <a:srgbClr val="9B323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第壹部分</a:t>
            </a:r>
            <a:endParaRPr lang="zh-CN" altLang="en-US" sz="2800">
              <a:solidFill>
                <a:schemeClr val="bg1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  <a:sym typeface="+mn-ea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867400" y="4632325"/>
            <a:ext cx="457200" cy="457200"/>
          </a:xfrm>
          <a:prstGeom prst="ellipse">
            <a:avLst/>
          </a:prstGeom>
          <a:solidFill>
            <a:srgbClr val="9B3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/>
        </p:nvCxnSpPr>
        <p:spPr>
          <a:xfrm flipH="1">
            <a:off x="6093460" y="4976495"/>
            <a:ext cx="0" cy="1552575"/>
          </a:xfrm>
          <a:prstGeom prst="line">
            <a:avLst/>
          </a:prstGeom>
          <a:ln>
            <a:solidFill>
              <a:srgbClr val="9B32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343435333336323b333633373330333bb1cabca3"/>
          <p:cNvPicPr>
            <a:picLocks noChangeAspect="1"/>
          </p:cNvPicPr>
          <p:nvPr/>
        </p:nvPicPr>
        <p:blipFill>
          <a:blip r:embed="rId1" cstate="email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30573" b="27427"/>
          <a:stretch>
            <a:fillRect/>
          </a:stretch>
        </p:blipFill>
        <p:spPr>
          <a:xfrm rot="3480000">
            <a:off x="-676224" y="1508561"/>
            <a:ext cx="7421245" cy="311688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687" h="4908">
                <a:moveTo>
                  <a:pt x="11687" y="0"/>
                </a:moveTo>
                <a:lnTo>
                  <a:pt x="11687" y="4296"/>
                </a:lnTo>
                <a:lnTo>
                  <a:pt x="0" y="4908"/>
                </a:lnTo>
                <a:lnTo>
                  <a:pt x="0" y="612"/>
                </a:lnTo>
                <a:lnTo>
                  <a:pt x="11687" y="0"/>
                </a:lnTo>
                <a:close/>
              </a:path>
            </a:pathLst>
          </a:custGeom>
        </p:spPr>
      </p:pic>
      <p:pic>
        <p:nvPicPr>
          <p:cNvPr id="28" name="图片 27" descr="343435333336323b333633373330333bb1cabca3"/>
          <p:cNvPicPr>
            <a:picLocks noChangeAspect="1"/>
          </p:cNvPicPr>
          <p:nvPr/>
        </p:nvPicPr>
        <p:blipFill>
          <a:blip r:embed="rId1" cstate="email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7860000">
            <a:off x="7755255" y="2884805"/>
            <a:ext cx="4783455" cy="20091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687" h="4908">
                <a:moveTo>
                  <a:pt x="11687" y="0"/>
                </a:moveTo>
                <a:lnTo>
                  <a:pt x="11687" y="4296"/>
                </a:lnTo>
                <a:lnTo>
                  <a:pt x="0" y="4908"/>
                </a:lnTo>
                <a:lnTo>
                  <a:pt x="0" y="612"/>
                </a:lnTo>
                <a:lnTo>
                  <a:pt x="11687" y="0"/>
                </a:lnTo>
                <a:close/>
              </a:path>
            </a:pathLst>
          </a:cu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rgbClr val="9B3234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260985" y="436245"/>
            <a:ext cx="12140565" cy="6205855"/>
          </a:xfrm>
          <a:prstGeom prst="roundRect">
            <a:avLst>
              <a:gd name="adj" fmla="val 0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1635" y="2406650"/>
            <a:ext cx="11116945" cy="9137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lnSpc>
                <a:spcPct val="180000"/>
              </a:lnSpc>
            </a:pPr>
            <a:r>
              <a:rPr lang="en-US" altLang="zh-CN" sz="1600" dirty="0">
                <a:solidFill>
                  <a:srgbClr val="9B3234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    </a:t>
            </a:r>
            <a:r>
              <a:rPr lang="zh-CN" altLang="en-US" sz="1600" dirty="0">
                <a:solidFill>
                  <a:srgbClr val="9B3234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杭州第19届亚运会（The 19th Asian Games）又称“2022年杭州亚运会”，是继1990年北京亚运会、2010年广州亚运会之后，中国第三次举办亚洲最高规格的国际综合性体育赛事。2022年7月19日，亚洲奥林匹克理事会宣布原定于2022年9月10日至25日举行的杭州2022年第19届亚运会将于2023年9月23日至10月8日举行，赛事名称和标志保持不变。杭州亚运会竞赛项目设置为：40个大项，61个分项，481个小项。40个竞赛大项包括31个奥运项目和9个非奥运项目，同时，在保持40个大项目不变的前提下，增设电子竞技、霹雳舞两个竞赛项目。杭州亚运会将诞生481块金牌。 </a:t>
            </a:r>
            <a:endParaRPr lang="zh-CN" altLang="en-US" sz="1600" dirty="0">
              <a:solidFill>
                <a:srgbClr val="9B3234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</a:endParaRPr>
          </a:p>
          <a:p>
            <a:pPr indent="0" fontAlgn="auto">
              <a:lnSpc>
                <a:spcPct val="180000"/>
              </a:lnSpc>
            </a:pPr>
            <a:r>
              <a:rPr lang="zh-CN" altLang="en-US" sz="1600" dirty="0">
                <a:solidFill>
                  <a:srgbClr val="9B3234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</a:rPr>
              <a:t>杭州亚运会以“中国新时代·杭州新亚运”为定位、“中国特色、亚洲风采、精彩纷呈”为目标，秉持“绿色、智能、节俭、文明”的办会理念，坚持“杭州为主、全省共享”的办赛原则。</a:t>
            </a:r>
            <a:endParaRPr lang="zh-CN" altLang="en-US" sz="1600" dirty="0">
              <a:solidFill>
                <a:srgbClr val="9B3234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07230" y="1289050"/>
            <a:ext cx="3312160" cy="90424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3200">
                <a:solidFill>
                  <a:srgbClr val="9B3234"/>
                </a:solidFill>
                <a:latin typeface="汉仪汉黑简" panose="00020600040101010101" charset="-122"/>
                <a:ea typeface="汉仪汉黑简" panose="00020600040101010101" charset="-122"/>
              </a:rPr>
              <a:t>   </a:t>
            </a:r>
            <a:r>
              <a:rPr lang="zh-CN" altLang="en-US" sz="3200">
                <a:solidFill>
                  <a:srgbClr val="9B3234"/>
                </a:solidFill>
                <a:latin typeface="汉仪汉黑简" panose="00020600040101010101" charset="-122"/>
                <a:ea typeface="汉仪汉黑简" panose="00020600040101010101" charset="-122"/>
              </a:rPr>
              <a:t>杭州</a:t>
            </a:r>
            <a:r>
              <a:rPr lang="zh-CN" altLang="en-US" sz="3200">
                <a:solidFill>
                  <a:srgbClr val="9B3234"/>
                </a:solidFill>
                <a:latin typeface="汉仪汉黑简" panose="00020600040101010101" charset="-122"/>
                <a:ea typeface="汉仪汉黑简" panose="00020600040101010101" charset="-122"/>
              </a:rPr>
              <a:t>亚运会</a:t>
            </a:r>
            <a:endParaRPr lang="zh-CN" altLang="en-US" sz="3200">
              <a:solidFill>
                <a:srgbClr val="9B3234"/>
              </a:solidFill>
              <a:latin typeface="汉仪汉黑简" panose="00020600040101010101" charset="-122"/>
              <a:ea typeface="汉仪汉黑简" panose="00020600040101010101" charset="-122"/>
            </a:endParaRPr>
          </a:p>
        </p:txBody>
      </p:sp>
      <p:pic>
        <p:nvPicPr>
          <p:cNvPr id="2" name="图片 1" descr="279759ee3d6d55fb283ccf7362224f4a21a4dde9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0280000">
            <a:off x="939165" y="715645"/>
            <a:ext cx="2899410" cy="20516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63855" y="329565"/>
            <a:ext cx="11465560" cy="6199505"/>
          </a:xfrm>
          <a:prstGeom prst="roundRect">
            <a:avLst>
              <a:gd name="adj" fmla="val 3738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C:/Users/肖宁/AppData/Local/Temp/picturecompress_20220425004629/output_24.pngoutput_24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 rot="3480000">
            <a:off x="-676224" y="1508561"/>
            <a:ext cx="7421245" cy="311688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687" h="4908">
                <a:moveTo>
                  <a:pt x="11687" y="0"/>
                </a:moveTo>
                <a:lnTo>
                  <a:pt x="11687" y="4296"/>
                </a:lnTo>
                <a:lnTo>
                  <a:pt x="0" y="4908"/>
                </a:lnTo>
                <a:lnTo>
                  <a:pt x="0" y="612"/>
                </a:lnTo>
                <a:lnTo>
                  <a:pt x="11687" y="0"/>
                </a:lnTo>
                <a:close/>
              </a:path>
            </a:pathLst>
          </a:custGeom>
        </p:spPr>
      </p:pic>
      <p:pic>
        <p:nvPicPr>
          <p:cNvPr id="28" name="图片 27" descr="C:/Users/肖宁/AppData/Local/Temp/picturecompress_20220425004629/output_25.pngoutput_25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 rot="7860000">
            <a:off x="7755255" y="2884805"/>
            <a:ext cx="4783455" cy="20091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687" h="4908">
                <a:moveTo>
                  <a:pt x="11687" y="0"/>
                </a:moveTo>
                <a:lnTo>
                  <a:pt x="11687" y="4296"/>
                </a:lnTo>
                <a:lnTo>
                  <a:pt x="0" y="4908"/>
                </a:lnTo>
                <a:lnTo>
                  <a:pt x="0" y="612"/>
                </a:lnTo>
                <a:lnTo>
                  <a:pt x="11687" y="0"/>
                </a:lnTo>
                <a:close/>
              </a:path>
            </a:pathLst>
          </a:custGeom>
        </p:spPr>
      </p:pic>
      <p:cxnSp>
        <p:nvCxnSpPr>
          <p:cNvPr id="5" name="直接连接符 4"/>
          <p:cNvCxnSpPr/>
          <p:nvPr/>
        </p:nvCxnSpPr>
        <p:spPr>
          <a:xfrm flipH="1">
            <a:off x="6093460" y="329565"/>
            <a:ext cx="0" cy="1552575"/>
          </a:xfrm>
          <a:prstGeom prst="line">
            <a:avLst/>
          </a:prstGeom>
          <a:ln>
            <a:solidFill>
              <a:srgbClr val="9412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5864860" y="1876425"/>
            <a:ext cx="457200" cy="457200"/>
          </a:xfrm>
          <a:prstGeom prst="ellipse">
            <a:avLst/>
          </a:prstGeom>
          <a:solidFill>
            <a:srgbClr val="B50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489960" y="2452688"/>
            <a:ext cx="46532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rgbClr val="941225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  </a:t>
            </a:r>
            <a:r>
              <a:rPr lang="zh-CN" altLang="en-US" sz="4400">
                <a:solidFill>
                  <a:srgbClr val="941225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学校</a:t>
            </a:r>
            <a:r>
              <a:rPr lang="zh-CN" altLang="en-US" sz="4400">
                <a:solidFill>
                  <a:srgbClr val="941225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的志愿</a:t>
            </a:r>
            <a:r>
              <a:rPr lang="zh-CN" altLang="en-US" sz="4400">
                <a:solidFill>
                  <a:srgbClr val="941225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服务</a:t>
            </a:r>
            <a:endParaRPr lang="zh-CN" altLang="en-US" sz="4400">
              <a:solidFill>
                <a:srgbClr val="941225"/>
              </a:solidFill>
              <a:latin typeface="汉仪汉黑简" panose="00020600040101010101" charset="-122"/>
              <a:ea typeface="汉仪汉黑简" panose="00020600040101010101" charset="-122"/>
              <a:sym typeface="+mn-ea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724400" y="3759835"/>
            <a:ext cx="2743200" cy="639445"/>
          </a:xfrm>
          <a:prstGeom prst="roundRect">
            <a:avLst>
              <a:gd name="adj" fmla="val 10228"/>
            </a:avLst>
          </a:prstGeom>
          <a:solidFill>
            <a:srgbClr val="941225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第叁部分</a:t>
            </a:r>
            <a:endParaRPr lang="zh-CN" altLang="en-US" sz="2800">
              <a:solidFill>
                <a:schemeClr val="bg1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  <a:sym typeface="+mn-ea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867400" y="4632325"/>
            <a:ext cx="457200" cy="457200"/>
          </a:xfrm>
          <a:prstGeom prst="ellipse">
            <a:avLst/>
          </a:prstGeom>
          <a:solidFill>
            <a:srgbClr val="B50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/>
        </p:nvCxnSpPr>
        <p:spPr>
          <a:xfrm flipH="1">
            <a:off x="6093460" y="4976495"/>
            <a:ext cx="0" cy="1552575"/>
          </a:xfrm>
          <a:prstGeom prst="line">
            <a:avLst/>
          </a:prstGeom>
          <a:ln>
            <a:solidFill>
              <a:srgbClr val="9412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5862320" y="1876425"/>
            <a:ext cx="457200" cy="457200"/>
          </a:xfrm>
          <a:prstGeom prst="ellipse">
            <a:avLst/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5864860" y="4632325"/>
            <a:ext cx="457200" cy="457200"/>
          </a:xfrm>
          <a:prstGeom prst="ellipse">
            <a:avLst/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200660" y="653415"/>
            <a:ext cx="11465560" cy="5765165"/>
          </a:xfrm>
          <a:prstGeom prst="roundRect">
            <a:avLst>
              <a:gd name="adj" fmla="val 3738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p>
            <a:pPr algn="l"/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5935" y="2141220"/>
            <a:ext cx="10688955" cy="1863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80000"/>
              </a:lnSpc>
              <a:buClrTx/>
              <a:buSzTx/>
              <a:buNone/>
            </a:pPr>
            <a:r>
              <a:rPr lang="zh-CN" altLang="en-US" sz="1600" dirty="0">
                <a:solidFill>
                  <a:srgbClr val="9B3234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截至今年7月上旬，已经开展的50多场“韵味杭州”系列赛事和演练活动中，有来自43所高校的1.9万余名预录用志愿者提前“上岗亮相”。我校作为服务竞赛场馆最多、时间跨度最长、志愿者招募人数最多的高校，将服务杭州奥体中心体育场（“大莲花”）、杭州奥体中心综合训练馆、临平体育中心体育馆、临平体育中心体育场、浙江塘栖盲人门球基地门球馆、浙江理工大学体育场 6 个场馆，参与服务杭州亚运会、亚残运会开（闭）幕式等。</a:t>
            </a:r>
            <a:endParaRPr lang="zh-CN" altLang="en-US" sz="1600" dirty="0">
              <a:solidFill>
                <a:srgbClr val="9B3234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63220" y="329565"/>
            <a:ext cx="11465560" cy="6199505"/>
          </a:xfrm>
          <a:prstGeom prst="roundRect">
            <a:avLst>
              <a:gd name="adj" fmla="val 3738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C:/Users/肖宁/AppData/Local/Temp/picturecompress_20220425004629/output_28.pngoutput_28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 rot="3480000">
            <a:off x="-676224" y="1508561"/>
            <a:ext cx="7421245" cy="311688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687" h="4908">
                <a:moveTo>
                  <a:pt x="11687" y="0"/>
                </a:moveTo>
                <a:lnTo>
                  <a:pt x="11687" y="4296"/>
                </a:lnTo>
                <a:lnTo>
                  <a:pt x="0" y="4908"/>
                </a:lnTo>
                <a:lnTo>
                  <a:pt x="0" y="612"/>
                </a:lnTo>
                <a:lnTo>
                  <a:pt x="11687" y="0"/>
                </a:lnTo>
                <a:close/>
              </a:path>
            </a:pathLst>
          </a:custGeom>
        </p:spPr>
      </p:pic>
      <p:pic>
        <p:nvPicPr>
          <p:cNvPr id="28" name="图片 27" descr="C:/Users/肖宁/AppData/Local/Temp/picturecompress_20220425004629/output_29.pngoutput_29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 rot="7860000">
            <a:off x="7755255" y="2884805"/>
            <a:ext cx="4783455" cy="20091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687" h="4908">
                <a:moveTo>
                  <a:pt x="11687" y="0"/>
                </a:moveTo>
                <a:lnTo>
                  <a:pt x="11687" y="4296"/>
                </a:lnTo>
                <a:lnTo>
                  <a:pt x="0" y="4908"/>
                </a:lnTo>
                <a:lnTo>
                  <a:pt x="0" y="612"/>
                </a:lnTo>
                <a:lnTo>
                  <a:pt x="11687" y="0"/>
                </a:lnTo>
                <a:close/>
              </a:path>
            </a:pathLst>
          </a:custGeom>
        </p:spPr>
      </p:pic>
      <p:cxnSp>
        <p:nvCxnSpPr>
          <p:cNvPr id="5" name="直接连接符 4"/>
          <p:cNvCxnSpPr/>
          <p:nvPr/>
        </p:nvCxnSpPr>
        <p:spPr>
          <a:xfrm flipH="1">
            <a:off x="6093460" y="329565"/>
            <a:ext cx="0" cy="1552575"/>
          </a:xfrm>
          <a:prstGeom prst="line">
            <a:avLst/>
          </a:prstGeom>
          <a:ln>
            <a:solidFill>
              <a:srgbClr val="9412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5864860" y="1876425"/>
            <a:ext cx="457200" cy="457200"/>
          </a:xfrm>
          <a:prstGeom prst="ellipse">
            <a:avLst/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210560" y="2452688"/>
            <a:ext cx="52120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rgbClr val="941225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  </a:t>
            </a:r>
            <a:r>
              <a:rPr lang="zh-CN" altLang="en-US" sz="4400">
                <a:solidFill>
                  <a:srgbClr val="941225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如何弘扬</a:t>
            </a:r>
            <a:r>
              <a:rPr lang="zh-CN" altLang="en-US" sz="4400">
                <a:solidFill>
                  <a:srgbClr val="941225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志愿精神</a:t>
            </a:r>
            <a:endParaRPr lang="zh-CN" altLang="en-US" sz="4400">
              <a:solidFill>
                <a:srgbClr val="941225"/>
              </a:solidFill>
              <a:latin typeface="汉仪汉黑简" panose="00020600040101010101" charset="-122"/>
              <a:ea typeface="汉仪汉黑简" panose="00020600040101010101" charset="-122"/>
              <a:sym typeface="+mn-ea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4724400" y="3759835"/>
            <a:ext cx="2743200" cy="639445"/>
          </a:xfrm>
          <a:prstGeom prst="roundRect">
            <a:avLst>
              <a:gd name="adj" fmla="val 10228"/>
            </a:avLst>
          </a:prstGeom>
          <a:solidFill>
            <a:srgbClr val="941225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第肆部分</a:t>
            </a:r>
            <a:endParaRPr lang="zh-CN" altLang="en-US" sz="2800">
              <a:solidFill>
                <a:schemeClr val="bg1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  <a:sym typeface="+mn-ea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867400" y="4632325"/>
            <a:ext cx="457200" cy="457200"/>
          </a:xfrm>
          <a:prstGeom prst="ellipse">
            <a:avLst/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/>
        </p:nvCxnSpPr>
        <p:spPr>
          <a:xfrm flipH="1">
            <a:off x="6093460" y="4976495"/>
            <a:ext cx="0" cy="1552575"/>
          </a:xfrm>
          <a:prstGeom prst="line">
            <a:avLst/>
          </a:prstGeom>
          <a:ln>
            <a:solidFill>
              <a:srgbClr val="9412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2162175"/>
            <a:ext cx="12192635" cy="4695825"/>
          </a:xfrm>
          <a:prstGeom prst="rect">
            <a:avLst/>
          </a:prstGeom>
          <a:solidFill>
            <a:srgbClr val="941225">
              <a:alpha val="85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81075" y="1161415"/>
            <a:ext cx="3218180" cy="1000760"/>
          </a:xfrm>
          <a:prstGeom prst="rect">
            <a:avLst/>
          </a:prstGeom>
          <a:solidFill>
            <a:srgbClr val="941225">
              <a:alpha val="85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如何继续弘扬</a:t>
            </a:r>
            <a:r>
              <a:rPr lang="zh-CN" altLang="en-US" sz="2000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志愿精神</a:t>
            </a:r>
            <a:endParaRPr lang="zh-CN" altLang="en-US" sz="2000">
              <a:solidFill>
                <a:schemeClr val="bg1"/>
              </a:solidFill>
              <a:latin typeface="汉仪汉黑简" panose="00020600040101010101" charset="-122"/>
              <a:ea typeface="汉仪汉黑简" panose="0002060004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1500" y="2334895"/>
            <a:ext cx="3422015" cy="43516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</a:rPr>
              <a:t>把志愿服务当作我们的青春伴侣。 要保持一以贯之的真情，带着一分纯真、一分纯粹投身志愿服务；要保持一以贯之的激情，努力做到“待志愿服务如初恋”；要保持一以贯之的痴情，不管遇到什么样的艰难险阻，都始终做到不离不弃。 把基层一线作为青春成长的广阔舞台。 要把志愿精神转化为向下生长的力量，把“心”与“情”牢牢扎根在基层。</a:t>
            </a:r>
            <a:endParaRPr lang="zh-CN" altLang="en-US">
              <a:solidFill>
                <a:schemeClr val="bg1"/>
              </a:solidFill>
              <a:latin typeface="汉仪汉黑简" panose="00020600040101010101" charset="-122"/>
              <a:ea typeface="汉仪汉黑简" panose="00020600040101010101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432300" y="3068320"/>
            <a:ext cx="17145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432300" y="4262120"/>
            <a:ext cx="17145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432300" y="5455920"/>
            <a:ext cx="17145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216900" y="3068955"/>
            <a:ext cx="17145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216900" y="4262755"/>
            <a:ext cx="17145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216900" y="5456555"/>
            <a:ext cx="171450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618355" y="3131820"/>
            <a:ext cx="3383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新时代中国青年要树立远大理想</a:t>
            </a:r>
            <a:endParaRPr lang="zh-CN" altLang="en-US">
              <a:solidFill>
                <a:schemeClr val="bg1"/>
              </a:solidFill>
              <a:latin typeface="汉仪汉黑简" panose="00020600040101010101" charset="-122"/>
              <a:ea typeface="汉仪汉黑简" panose="00020600040101010101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618355" y="4325620"/>
            <a:ext cx="3383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新时代中国青年要热爱伟大祖国</a:t>
            </a:r>
            <a:endParaRPr lang="zh-CN" altLang="en-US">
              <a:solidFill>
                <a:schemeClr val="bg1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18355" y="5519420"/>
            <a:ext cx="3383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新时代中国青年要担当时代责任</a:t>
            </a:r>
            <a:endParaRPr lang="zh-CN" altLang="en-US">
              <a:solidFill>
                <a:schemeClr val="bg1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75650" y="3132455"/>
            <a:ext cx="3383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新时代中国青年要勇于砥砺奋斗</a:t>
            </a:r>
            <a:endParaRPr lang="zh-CN" altLang="en-US">
              <a:solidFill>
                <a:schemeClr val="bg1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04225" y="4326255"/>
            <a:ext cx="3383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新时代中国青年要练就过硬本领</a:t>
            </a:r>
            <a:endParaRPr lang="zh-CN" altLang="en-US">
              <a:solidFill>
                <a:schemeClr val="bg1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404225" y="5520055"/>
            <a:ext cx="3383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新时代中国青年要锤炼品德修为</a:t>
            </a:r>
            <a:endParaRPr lang="zh-CN" altLang="en-US">
              <a:solidFill>
                <a:schemeClr val="bg1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360680" y="329565"/>
            <a:ext cx="11465560" cy="6199505"/>
          </a:xfrm>
          <a:prstGeom prst="roundRect">
            <a:avLst>
              <a:gd name="adj" fmla="val 3738"/>
            </a:avLst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C:/Users/肖宁/AppData/Local/Temp/picturecompress_20220425004629/output_31.pngoutput_31"/>
          <p:cNvPicPr>
            <a:picLocks noChangeAspect="1"/>
          </p:cNvPicPr>
          <p:nvPr/>
        </p:nvPicPr>
        <p:blipFill>
          <a:blip r:embed="rId1" cstate="email"/>
          <a:stretch>
            <a:fillRect/>
          </a:stretch>
        </p:blipFill>
        <p:spPr>
          <a:xfrm rot="3480000">
            <a:off x="-676224" y="1508561"/>
            <a:ext cx="7421245" cy="311688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687" h="4908">
                <a:moveTo>
                  <a:pt x="11687" y="0"/>
                </a:moveTo>
                <a:lnTo>
                  <a:pt x="11687" y="4296"/>
                </a:lnTo>
                <a:lnTo>
                  <a:pt x="0" y="4908"/>
                </a:lnTo>
                <a:lnTo>
                  <a:pt x="0" y="612"/>
                </a:lnTo>
                <a:lnTo>
                  <a:pt x="11687" y="0"/>
                </a:lnTo>
                <a:close/>
              </a:path>
            </a:pathLst>
          </a:custGeom>
        </p:spPr>
      </p:pic>
      <p:pic>
        <p:nvPicPr>
          <p:cNvPr id="28" name="图片 27" descr="C:/Users/肖宁/AppData/Local/Temp/picturecompress_20220425004629/output_32.pngoutput_32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 rot="7860000">
            <a:off x="7755255" y="2884805"/>
            <a:ext cx="4783455" cy="20091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687" h="4908">
                <a:moveTo>
                  <a:pt x="11687" y="0"/>
                </a:moveTo>
                <a:lnTo>
                  <a:pt x="11687" y="4296"/>
                </a:lnTo>
                <a:lnTo>
                  <a:pt x="0" y="4908"/>
                </a:lnTo>
                <a:lnTo>
                  <a:pt x="0" y="612"/>
                </a:lnTo>
                <a:lnTo>
                  <a:pt x="11687" y="0"/>
                </a:lnTo>
                <a:close/>
              </a:path>
            </a:pathLst>
          </a:custGeom>
        </p:spPr>
      </p:pic>
      <p:cxnSp>
        <p:nvCxnSpPr>
          <p:cNvPr id="5" name="直接连接符 4"/>
          <p:cNvCxnSpPr/>
          <p:nvPr/>
        </p:nvCxnSpPr>
        <p:spPr>
          <a:xfrm flipH="1">
            <a:off x="6093460" y="329565"/>
            <a:ext cx="0" cy="1552575"/>
          </a:xfrm>
          <a:prstGeom prst="line">
            <a:avLst/>
          </a:prstGeom>
          <a:ln>
            <a:solidFill>
              <a:srgbClr val="9412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5867400" y="1882140"/>
            <a:ext cx="457200" cy="457200"/>
          </a:xfrm>
          <a:prstGeom prst="ellipse">
            <a:avLst/>
          </a:prstGeom>
          <a:solidFill>
            <a:srgbClr val="B50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68045" y="2956560"/>
            <a:ext cx="1090739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400">
                <a:solidFill>
                  <a:srgbClr val="941225"/>
                </a:solidFill>
                <a:latin typeface="汉仪汉黑简" panose="00020600040101010101" charset="-122"/>
                <a:ea typeface="汉仪汉黑简" panose="00020600040101010101" charset="-122"/>
                <a:sym typeface="+mn-ea"/>
              </a:rPr>
              <a:t>弘扬志愿服务精神，积极参与志愿服务行动</a:t>
            </a:r>
            <a:endParaRPr lang="zh-CN" altLang="en-US" sz="4400">
              <a:solidFill>
                <a:srgbClr val="941225"/>
              </a:solidFill>
              <a:latin typeface="汉仪汉黑简" panose="00020600040101010101" charset="-122"/>
              <a:ea typeface="汉仪汉黑简" panose="00020600040101010101" charset="-122"/>
              <a:sym typeface="+mn-ea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5867400" y="4632325"/>
            <a:ext cx="457200" cy="457200"/>
          </a:xfrm>
          <a:prstGeom prst="ellipse">
            <a:avLst/>
          </a:prstGeom>
          <a:solidFill>
            <a:srgbClr val="B500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/>
        </p:nvCxnSpPr>
        <p:spPr>
          <a:xfrm flipH="1">
            <a:off x="6093460" y="4976495"/>
            <a:ext cx="0" cy="1552575"/>
          </a:xfrm>
          <a:prstGeom prst="line">
            <a:avLst/>
          </a:prstGeom>
          <a:ln>
            <a:solidFill>
              <a:srgbClr val="9412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5867400" y="1882140"/>
            <a:ext cx="457200" cy="457200"/>
          </a:xfrm>
          <a:prstGeom prst="ellipse">
            <a:avLst/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5867400" y="4632325"/>
            <a:ext cx="457200" cy="457200"/>
          </a:xfrm>
          <a:prstGeom prst="ellipse">
            <a:avLst/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-8890" y="-317"/>
            <a:ext cx="12192635" cy="6858000"/>
          </a:xfrm>
          <a:prstGeom prst="rect">
            <a:avLst/>
          </a:prstGeom>
          <a:solidFill>
            <a:srgbClr val="941225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515725" y="2314575"/>
            <a:ext cx="676275" cy="2409190"/>
          </a:xfrm>
          <a:prstGeom prst="rect">
            <a:avLst/>
          </a:prstGeom>
          <a:solidFill>
            <a:srgbClr val="94122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-8890" y="2314575"/>
            <a:ext cx="676275" cy="2409190"/>
          </a:xfrm>
          <a:prstGeom prst="rect">
            <a:avLst/>
          </a:prstGeom>
          <a:solidFill>
            <a:srgbClr val="94122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667385" y="1131570"/>
            <a:ext cx="10857230" cy="4030980"/>
          </a:xfrm>
          <a:prstGeom prst="roundRect">
            <a:avLst>
              <a:gd name="adj" fmla="val 0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350010" y="1871980"/>
            <a:ext cx="9404985" cy="132080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pPr algn="ctr"/>
            <a:endParaRPr sz="4000" dirty="0">
              <a:solidFill>
                <a:srgbClr val="B50007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  <a:sym typeface="+mn-ea"/>
            </a:endParaRPr>
          </a:p>
          <a:p>
            <a:pPr algn="ctr"/>
            <a:r>
              <a:rPr sz="4000" dirty="0">
                <a:solidFill>
                  <a:srgbClr val="B50007"/>
                </a:solidFill>
                <a:latin typeface="汉仪汉黑简" panose="00020600040101010101" charset="-122"/>
                <a:ea typeface="汉仪汉黑简" panose="00020600040101010101" charset="-122"/>
                <a:cs typeface="汉仪汉黑简" panose="00020600040101010101" charset="-122"/>
                <a:sym typeface="+mn-ea"/>
              </a:rPr>
              <a:t>青年一代必将大有可为，也必将大有作为</a:t>
            </a:r>
            <a:endParaRPr sz="4000" dirty="0">
              <a:solidFill>
                <a:srgbClr val="B50007"/>
              </a:solidFill>
              <a:latin typeface="汉仪汉黑简" panose="00020600040101010101" charset="-122"/>
              <a:ea typeface="汉仪汉黑简" panose="00020600040101010101" charset="-122"/>
              <a:cs typeface="汉仪汉黑简" panose="00020600040101010101" charset="-122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147945" y="3829050"/>
            <a:ext cx="1895475" cy="647700"/>
          </a:xfrm>
          <a:prstGeom prst="roundRect">
            <a:avLst/>
          </a:prstGeom>
          <a:solidFill>
            <a:srgbClr val="9412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汉仪汉黑简" panose="00020600040101010101" charset="-122"/>
                <a:ea typeface="汉仪汉黑简" panose="00020600040101010101" charset="-122"/>
              </a:rPr>
              <a:t>感谢观看</a:t>
            </a:r>
            <a:endParaRPr lang="zh-CN" altLang="en-US" sz="2400">
              <a:solidFill>
                <a:schemeClr val="bg1"/>
              </a:solidFill>
              <a:latin typeface="汉仪汉黑简" panose="00020600040101010101" charset="-122"/>
              <a:ea typeface="汉仪汉黑简" panose="00020600040101010101" charset="-122"/>
            </a:endParaRPr>
          </a:p>
        </p:txBody>
      </p:sp>
      <p:pic>
        <p:nvPicPr>
          <p:cNvPr id="26" name="图片 25" descr="343435333336323b333633373330333bb1cabca3"/>
          <p:cNvPicPr>
            <a:picLocks noChangeAspect="1"/>
          </p:cNvPicPr>
          <p:nvPr/>
        </p:nvPicPr>
        <p:blipFill>
          <a:blip r:embed="rId1" cstate="email"/>
          <a:srcRect/>
          <a:stretch>
            <a:fillRect/>
          </a:stretch>
        </p:blipFill>
        <p:spPr>
          <a:xfrm rot="3480000">
            <a:off x="1443990" y="1149350"/>
            <a:ext cx="8999220" cy="377952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687" h="4908">
                <a:moveTo>
                  <a:pt x="11687" y="0"/>
                </a:moveTo>
                <a:lnTo>
                  <a:pt x="11687" y="4296"/>
                </a:lnTo>
                <a:lnTo>
                  <a:pt x="0" y="4908"/>
                </a:lnTo>
                <a:lnTo>
                  <a:pt x="0" y="612"/>
                </a:lnTo>
                <a:lnTo>
                  <a:pt x="11687" y="0"/>
                </a:lnTo>
                <a:close/>
              </a:path>
            </a:pathLst>
          </a:custGeom>
        </p:spPr>
      </p:pic>
    </p:spTree>
    <p:custDataLst>
      <p:tags r:id="rId2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6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7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7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7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7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7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7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8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8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9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9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9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9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9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9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9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9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9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9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10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10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10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10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10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10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0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0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0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0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1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119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20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176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24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125.xml><?xml version="1.0" encoding="utf-8"?>
<p:tagLst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126.xml><?xml version="1.0" encoding="utf-8"?>
<p:tagLst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127.xml><?xml version="1.0" encoding="utf-8"?>
<p:tagLst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128.xml><?xml version="1.0" encoding="utf-8"?>
<p:tagLst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129.xml><?xml version="1.0" encoding="utf-8"?>
<p:tagLst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32.xml><?xml version="1.0" encoding="utf-8"?>
<p:tagLst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133.xml><?xml version="1.0" encoding="utf-8"?>
<p:tagLst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134.xml><?xml version="1.0" encoding="utf-8"?>
<p:tagLst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135.xml><?xml version="1.0" encoding="utf-8"?>
<p:tagLst xmlns:p="http://schemas.openxmlformats.org/presentationml/2006/main">
  <p:tag name="KSO_WM_BEAUTIFY_FLAG" val="#wm#"/>
  <p:tag name="KSO_WM_SLIDE_ID" val="custom20205176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176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136.xml><?xml version="1.0" encoding="utf-8"?>
<p:tagLst xmlns:p="http://schemas.openxmlformats.org/presentationml/2006/main">
  <p:tag name="AS_OS" val="Unix 3.10 unknown"/>
  <p:tag name="AS_RELEASE_DATE" val="2020.11.30"/>
  <p:tag name="AS_TITLE" val="Aspose.Slides for Java"/>
  <p:tag name="AS_VERSION" val="20.11"/>
  <p:tag name="KSO_WPP_MARK_KEY" val="298342be-2d6b-4035-b3b3-8c2d1a770e97"/>
  <p:tag name="COMMONDATA" val="eyJoZGlkIjoiOTFkMjk4N2E0Y2RiNmViYjhkOGQ4MmEwMDQ3YzljZTEifQ=="/>
</p:tagLst>
</file>

<file path=ppt/theme/theme1.xml><?xml version="1.0" encoding="utf-8"?>
<a:theme xmlns:a="http://schemas.openxmlformats.org/drawingml/2006/main" name="第一PPT模板网-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1119</Words>
  <Application>WPS 演示</Application>
  <PresentationFormat>宽屏</PresentationFormat>
  <Paragraphs>68</Paragraphs>
  <Slides>10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汉仪汉黑简</vt:lpstr>
      <vt:lpstr>黑体</vt:lpstr>
      <vt:lpstr>微软雅黑</vt:lpstr>
      <vt:lpstr>Arial Unicode MS</vt:lpstr>
      <vt:lpstr>Calibri</vt:lpstr>
      <vt:lpstr>第一PPT模板网-WWW.1PPT.COM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中国青年节主题班会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第一PPT模板网-WWW.1PPT.COM</dc:creator>
  <cp:lastModifiedBy>Vivian</cp:lastModifiedBy>
  <cp:revision>11</cp:revision>
  <cp:lastPrinted>2022-09-20T21:29:00Z</cp:lastPrinted>
  <dcterms:created xsi:type="dcterms:W3CDTF">2022-09-20T21:29:00Z</dcterms:created>
  <dcterms:modified xsi:type="dcterms:W3CDTF">2023-09-20T08:47:41Z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651FF8DABAA44098B7A02D65C701CB97_13</vt:lpwstr>
  </property>
  <property fmtid="{D5CDD505-2E9C-101B-9397-08002B2CF9AE}" pid="3" name="KSOProductBuildVer">
    <vt:lpwstr>2052-11.1.0.15319</vt:lpwstr>
  </property>
</Properties>
</file>